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764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2347"/>
          </a:solidFill>
          <a:ln w="12700">
            <a:solidFill>
              <a:srgbClr val="0A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54864" cy="514350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64008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47472"/>
            <a:ext cx="1371600" cy="384048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7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0240" y="393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Innovation Hackathon  ·  Submission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666665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RASTRA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Analysis &amp; Safety Tracking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Reflective Assessment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Team-Parrot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member-Sanidhya Somawar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Anshul Verma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Deepak Kashyap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Onkar Prasad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Deepika </a:t>
            </a:r>
            <a:r>
              <a:rPr lang="en-US" sz="900" dirty="0" err="1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Kaiwart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59" y="3653875"/>
            <a:ext cx="256032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59" y="3717883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Retroreflectivity Measurement System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59" y="3992203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Vehicle-Mounted  ·  Highway Speed  ·  Full Cross-Section  ·  IRC 67:2012 / IRC 35:2015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457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37960" y="7132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Front-Mounted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Reflectometer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2011680" cy="1280160"/>
          </a:xfrm>
          <a:prstGeom prst="rect">
            <a:avLst/>
          </a:prstGeom>
          <a:solidFill>
            <a:srgbClr val="0D3060"/>
          </a:solidFill>
          <a:ln w="12700">
            <a:solidFill>
              <a:srgbClr val="1A5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2344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Unit Photo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2606040"/>
            <a:ext cx="548640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724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29809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Roof-Mounted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Reflectometer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3493008"/>
            <a:ext cx="2011680" cy="1280160"/>
          </a:xfrm>
          <a:prstGeom prst="rect">
            <a:avLst/>
          </a:prstGeom>
          <a:solidFill>
            <a:srgbClr val="0D3060"/>
          </a:solidFill>
          <a:ln w="12700">
            <a:solidFill>
              <a:srgbClr val="1A5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493008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Unit Photo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80060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Hackathon Submission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38E08D9-05B8-9C18-1AA6-C9B8EA5F9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1" y="1234440"/>
            <a:ext cx="2011680" cy="12801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D90FDA6-8632-7DA9-CDB5-C3398211C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493008"/>
            <a:ext cx="2011681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retroreflectivity inspection is broken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43200" cy="2926080"/>
          </a:xfrm>
          <a:prstGeom prst="rect">
            <a:avLst/>
          </a:prstGeom>
          <a:solidFill>
            <a:srgbClr val="FFFFFF"/>
          </a:solidFill>
          <a:ln w="15240">
            <a:solidFill>
              <a:srgbClr val="BD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9768" y="16916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29768" y="2084832"/>
            <a:ext cx="457200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194560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stand on live highways — including 6-lane expressways — with handheld devices to measure one point at a 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27832" y="960120"/>
            <a:ext cx="2743200" cy="2926080"/>
          </a:xfrm>
          <a:prstGeom prst="rect">
            <a:avLst/>
          </a:prstGeom>
          <a:solidFill>
            <a:srgbClr val="FFFFFF"/>
          </a:solidFill>
          <a:ln w="15240">
            <a:solidFill>
              <a:srgbClr val="BD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960120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37560" y="16916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Impossibly Slow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337560" y="2084832"/>
            <a:ext cx="457200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194560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point-by-point inspection cannot scale across NHAI's 50,000+ km network. Critical failures go undetected.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35624" y="960120"/>
            <a:ext cx="2743200" cy="2926080"/>
          </a:xfrm>
          <a:prstGeom prst="rect">
            <a:avLst/>
          </a:prstGeom>
          <a:solidFill>
            <a:srgbClr val="FFFFFF"/>
          </a:solidFill>
          <a:ln w="15240">
            <a:solidFill>
              <a:srgbClr val="BD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35624" y="960120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45352" y="16916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Degradation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45352" y="2084832"/>
            <a:ext cx="457200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2194560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Markings, signs and studs lose retroreflectivity over time from UV, tyre wear and pollution — with no automatic monitoring.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6032" y="4041648"/>
            <a:ext cx="8631936" cy="804672"/>
          </a:xfrm>
          <a:prstGeom prst="rect">
            <a:avLst/>
          </a:prstGeom>
          <a:solidFill>
            <a:srgbClr val="E3F0FB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" y="4462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of NHAI Highways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33472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33472" y="4462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Angle (IRC)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9744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67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809744" y="4462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Standard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86016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35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86016" y="4462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Markings Standard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RASTRA — Complete Integrated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vehicle · One pass · All assets · Highway speed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996696"/>
            <a:ext cx="3108960" cy="3483864"/>
          </a:xfrm>
          <a:prstGeom prst="rect">
            <a:avLst/>
          </a:prstGeom>
          <a:solidFill>
            <a:srgbClr val="E3F0FB"/>
          </a:solidFill>
          <a:ln w="19050">
            <a:solidFill>
              <a:srgbClr val="BD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🚗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017520" y="1874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Vehicle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2286000"/>
            <a:ext cx="3108960" cy="4572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 ·  FRONT-MOUNTED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279806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Markings  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(White &amp; Yellow)
</a:t>
            </a: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Studs / RPMs  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(LiDAR confirmed)
Measurement interval: </a:t>
            </a:r>
            <a:r>
              <a:rPr lang="en-US" sz="10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m continuous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3566160"/>
            <a:ext cx="310896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 ·  ROOF-MOUNTED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40142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Signs  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(Shoulder &amp; Gantry)
Flash measurement: </a:t>
            </a:r>
            <a:r>
              <a:rPr lang="en-US" sz="10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µs strobe at 15–20 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1005840"/>
            <a:ext cx="2651760" cy="3474720"/>
          </a:xfrm>
          <a:prstGeom prst="rect">
            <a:avLst/>
          </a:prstGeom>
          <a:solidFill>
            <a:srgbClr val="F0F6FF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05156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 Sensors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1362456"/>
            <a:ext cx="457200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4630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940 nm IR LED Projectors (×2)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188366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Silicon Photodiodes + 16-bit ADC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23042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Basler 8192-px Line Scan Camera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272491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Livox Mid-360 LiDAR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14553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635 nm Colour Laser (White/Yellow)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35661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FPGA Trigger Board — 1 µs sync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36208" y="1005840"/>
            <a:ext cx="2651760" cy="3474720"/>
          </a:xfrm>
          <a:prstGeom prst="rect">
            <a:avLst/>
          </a:prstGeom>
          <a:solidFill>
            <a:srgbClr val="F0F6FF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05156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 Sensors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362456"/>
            <a:ext cx="457200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4630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White LED Flash Strobes (×2 + ×1 up)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188366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Stereolabs ZED 2i Stereo Camera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23042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Basler Near-IR Camera 850 nm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272491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Ricoh Theta Z1 Fisheye (Gantry)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314553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Livox Mid-360 LiDAR (Signs)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9360" y="35661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Motorised Tilt Bracket (0°–25°)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4526280"/>
            <a:ext cx="8631936" cy="3474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535424"/>
            <a:ext cx="8485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RASTRA Software  ·  BLE Connected  ·  GPS Road-Tracked  ·  IRC 67:2012 / IRC 35:2015 Compliance  ·  PDF + CSV Export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4A482F3-42E1-5C68-A05F-C7D87FE18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989499"/>
            <a:ext cx="3108960" cy="12782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Front-Mounted Reflectometer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Markings &amp; Road Studs  ·  IRC 35:2015  ·  0–120 km/h  ·  IP67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3931920" cy="3200400"/>
          </a:xfrm>
          <a:prstGeom prst="rect">
            <a:avLst/>
          </a:prstGeom>
          <a:solidFill>
            <a:srgbClr val="E3F0FB"/>
          </a:solidFill>
          <a:ln w="19050">
            <a:solidFill>
              <a:srgbClr val="BDD8F0"/>
            </a:solidFill>
            <a:prstDash val="dash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14400"/>
            <a:ext cx="3931920" cy="292608"/>
          </a:xfrm>
          <a:prstGeom prst="rect">
            <a:avLst/>
          </a:prstGeom>
          <a:solidFill>
            <a:srgbClr val="BDD8F0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960120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Front-Mounted Unit Photo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313432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Front-Mounted Unit Photo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8775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cm × 22 cm × 36 cm · ~20 kg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767328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Image Here 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07408" y="960120"/>
            <a:ext cx="22128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07408" y="960120"/>
            <a:ext cx="2212848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1033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10332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2344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940 nm IR LED Array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62272" y="1600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Pulsed 48W · invisible to human eye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39128" y="960120"/>
            <a:ext cx="22128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39128" y="960120"/>
            <a:ext cx="2212848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1033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78040" y="10332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8040" y="12344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Hamamatsu S1227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93992" y="1600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10×10 mm · 16-bit ADC @ 1 MSPS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07408" y="2075688"/>
            <a:ext cx="22128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07408" y="2075688"/>
            <a:ext cx="2212848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2148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46320" y="214884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Scan Camera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3500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Basler 8192-px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62272" y="2715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mm/px · hardware-triggered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39128" y="2075688"/>
            <a:ext cx="22128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39128" y="2075688"/>
            <a:ext cx="2212848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93992" y="2148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78040" y="214884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(Studs)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78040" y="23500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Livox Mid-360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93992" y="2715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pts/s · ±2 cm height detect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07408" y="3191256"/>
            <a:ext cx="22128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07408" y="3191256"/>
            <a:ext cx="2212848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62272" y="3264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846320" y="326440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46557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2-lane Width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62272" y="38313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m at 12 m ahead · no boom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39128" y="3191256"/>
            <a:ext cx="22128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39128" y="3191256"/>
            <a:ext cx="2212848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93992" y="3264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178040" y="326440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78040" y="346557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2.2 m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93992" y="38313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 bundles/km · continuous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4224528"/>
            <a:ext cx="8631936" cy="640080"/>
          </a:xfrm>
          <a:prstGeom prst="rect">
            <a:avLst/>
          </a:prstGeom>
          <a:solidFill>
            <a:srgbClr val="E3F0FB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2611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LED pulses illuminate road 12 m ahead. Retroreflected light is captured by photodiodes at 0.2° observation angle (IRC 35 geometry). 1 MHz sampling averages to one calibrated RL reading every 2.2 m. A 940 nm bandpass filter blocks all sunlight — accurate in full daylight at 120 km/h. LiDAR confirms stud physical height (15–20 mm) for definitive RPM detection.</a:t>
            </a:r>
            <a:endParaRPr lang="en-US" sz="10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25B2BDC-4C12-AA9B-BF37-87C199E86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3" y="1207008"/>
            <a:ext cx="3931920" cy="2907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Key Technical Specifications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Front-Mounted Box  ·  Markings &amp; Studs  ·  Full spec for evaluation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398221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Dimensions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 cm × 22 cm × 36 cm  ·  ~20 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RetroTek-D form factor — front hitch 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120 km/h continuous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slowing of survey vehicle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m full 2-lane width at 12 m ahead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Simultaneous L + R lane measurement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940 nm infrared (invisible)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by bandpass filter — works in daylight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Pulse 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– 50 microseconds (FPGA controlled)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Freeze motion at any speed; no blur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Photodiode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Hamamatsu S1227-1010BR  (10×10 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0.2° observation angle per IRC 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Resolution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@ 1 MSPS per 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 mcd/lx·m² resolution in 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Scan Camera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Basler raL8192-12gm  ·  8,192 pixels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mm/pixel at 12 m — sub-mm detail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(Studs)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Livox Mid-360  ·  200,000 pts/sec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stud height ±2 cm confirmation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 Laser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635 nm red  ·  10 mW pulsed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vs yellow marking discrimination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IP67 — fully sealed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Monsoon-season surveys without 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IRC 35:2015  ·  IS 1580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Indian highway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— Roof-Mounted Reflectometer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Signs &amp; Gantry Signs  ·  IRC 67:2012  ·  15–20 m Flash Photometry  ·  IP67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3931920" cy="3200400"/>
          </a:xfrm>
          <a:prstGeom prst="rect">
            <a:avLst/>
          </a:prstGeom>
          <a:solidFill>
            <a:srgbClr val="E3F0FB"/>
          </a:solidFill>
          <a:ln w="19050">
            <a:solidFill>
              <a:srgbClr val="BDD8F0"/>
            </a:solidFill>
            <a:prstDash val="dash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14400"/>
            <a:ext cx="3931920" cy="292608"/>
          </a:xfrm>
          <a:prstGeom prst="rect">
            <a:avLst/>
          </a:prstGeom>
          <a:solidFill>
            <a:srgbClr val="BDD8F0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960120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Roof-Mounted Unit Photo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313432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Roof-Mounted Unit Photo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8775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cm × 30 cm × 20 cm · ~16 kg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767328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Image Here 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07408" y="960120"/>
            <a:ext cx="22128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07408" y="960120"/>
            <a:ext cx="2212848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1033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10332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LED Strobe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2344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250W Pulsed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62272" y="1600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lux at 15 m · 1 µs flash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39128" y="960120"/>
            <a:ext cx="22128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39128" y="960120"/>
            <a:ext cx="2212848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1033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78040" y="10332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Camera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8040" y="12344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ZED 2i · ±1% Depth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93992" y="1600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mm baseline · 2.2 MP per eye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07408" y="2075688"/>
            <a:ext cx="22128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07408" y="2075688"/>
            <a:ext cx="2212848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2148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🔭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46320" y="214884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Camera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3500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Basler + 850 nm Filter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62272" y="2715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Cross-validates RL independently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39128" y="2075688"/>
            <a:ext cx="22128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39128" y="2075688"/>
            <a:ext cx="2212848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93992" y="2148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78040" y="214884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Fisheye (Gantry)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78040" y="23500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Ricoh Theta Z1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93992" y="2715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360°×180° · overhead panel capture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07408" y="3191256"/>
            <a:ext cx="22128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07408" y="3191256"/>
            <a:ext cx="2212848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62272" y="3264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846320" y="326440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(Signs)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46557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Livox Mid-360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62272" y="38313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signs 40 m · gantry 100 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39128" y="3191256"/>
            <a:ext cx="22128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39128" y="3191256"/>
            <a:ext cx="2212848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93992" y="3264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178040" y="326440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Tilt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78040" y="346557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 – 25° elevation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93992" y="38313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Auto-tilt: roadside → gantry mode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4224528"/>
            <a:ext cx="8631936" cy="640080"/>
          </a:xfrm>
          <a:prstGeom prst="rect">
            <a:avLst/>
          </a:prstGeom>
          <a:solidFill>
            <a:srgbClr val="E3F0FB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2611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detects sign at 40 m. FPGA calculates exact timing to fire 1 µs white strobe when sign is 15–20 m away. ZED 2i measures distance ±1%. RL = Luminance ÷ Illuminance. IR camera cross-validates independently. For gantry: ZED 2i captures at oblique angle; fisheye captures from below when passing under — both measurements cross-checked.</a:t>
            </a:r>
            <a:endParaRPr lang="en-US" sz="10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7031A68-8EA3-C00E-6E41-93805A7EB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0"/>
            <a:ext cx="3931920" cy="29352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— Key Technical Specifications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Roof-Mounted Box  ·  Signs &amp; Gantry  ·  Full spec for evaluation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398221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Dimensions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cm × 30 cm × 20 cm  ·  ~16 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Low-profile roof mount — minimal drag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Measurement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– 20 m from vehicle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flash geometry for RL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Strobe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 lux on sign face at 15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12899-1 / IRC 67 minimum 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Duration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microsecond per flash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 mm vehicle motion — zero blur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 Joules per flash (30V × 10,000 µF)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Capacitor bank — fully solid-state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Stereo Camera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ZED 2i  ·  ±1% depth at 15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accuracy critical for RL formula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Formula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= Luminance (L) ÷ Illuminance (E)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IRC 67 photometric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 Temperature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6500 K  ·  CRI &gt; 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D65 / IRC 67 white light spec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Signs: 40 m  ·  Gantry: 100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Pre-arms flash timing before sign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Gantry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ZED 2i forward + Fisheye overhead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Two-angle cross-validation for prismatic sheeting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Tilt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 – 25° motorised elevation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Auto-switches sign ↔ gantry measurement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IRC 67:2012  ·  IS 15758  ·  MoRTH RSQM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Indian road sign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RASTRA Application — Software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Connected  ·  GPS Road-Tracked  ·  IRC Compliant  ·  Real-time Bundle Dashboard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914400"/>
            <a:ext cx="4453128" cy="3547872"/>
          </a:xfrm>
          <a:prstGeom prst="rect">
            <a:avLst/>
          </a:prstGeom>
          <a:solidFill>
            <a:srgbClr val="E3F0FB"/>
          </a:solidFill>
          <a:ln w="19050">
            <a:solidFill>
              <a:srgbClr val="BDD8F0"/>
            </a:solidFill>
            <a:prstDash val="dash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34840" y="914400"/>
            <a:ext cx="4453128" cy="292608"/>
          </a:xfrm>
          <a:prstGeom prst="rect">
            <a:avLst/>
          </a:prstGeom>
          <a:solidFill>
            <a:srgbClr val="BDD8F0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960120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RASTRA Dashboard Screenshot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44568" y="2487168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RASTRA Dashboard Screenshot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44568" y="2761488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running in Chrome browser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44568" y="4114800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Image Here 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9601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960120"/>
            <a:ext cx="54864" cy="8046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033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240" y="10149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Instrument Link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130759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reflectometer over Bluetooth. Each notification = one 2.2 m bundle.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1856232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1856232"/>
            <a:ext cx="54864" cy="8046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929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240" y="19110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OSM Road Map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220370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placed on real highway centreline from OpenStreetMap — satellite + road overlay.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752344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2752344"/>
            <a:ext cx="54864" cy="8046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825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77240" y="28072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System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309981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2.2 m = simultaneous scan across all channels: markings, studs, signs, gantry.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648456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648456"/>
            <a:ext cx="54864" cy="8046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77240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Pass/Fail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399592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thresholds for dry/wet, IRC 67 for signs, IRC 35 for markings and studs.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4553712"/>
            <a:ext cx="8631936" cy="3200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562856"/>
            <a:ext cx="8485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PDF Inspection Report  ·  CSV with GPS + Conditions + IRC Results  ·  GIS-ready coordinates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568F2A3-ACF4-11A7-49C7-BDAFD92CF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914400"/>
            <a:ext cx="4453128" cy="35570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2.2 m Bundle — Cross-Section Scan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2.2 metres = simultaneous readings across full road width in one capture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solidFill>
            <a:srgbClr val="E8EFF6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" y="1463040"/>
            <a:ext cx="27432" cy="457200"/>
          </a:xfrm>
          <a:prstGeom prst="rect">
            <a:avLst/>
          </a:prstGeom>
          <a:solidFill>
            <a:srgbClr val="14C864"/>
          </a:solidFill>
          <a:ln w="12700">
            <a:solidFill>
              <a:srgbClr val="14C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267712"/>
            <a:ext cx="256032" cy="256032"/>
          </a:xfrm>
          <a:prstGeom prst="ellipse">
            <a:avLst/>
          </a:prstGeom>
          <a:solidFill>
            <a:srgbClr val="14C86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566928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57784" y="1060704"/>
            <a:ext cx="475488" cy="182880"/>
          </a:xfrm>
          <a:prstGeom prst="rect">
            <a:avLst/>
          </a:prstGeom>
          <a:solidFill>
            <a:srgbClr val="14C864"/>
          </a:solidFill>
          <a:ln w="12700">
            <a:solidFill>
              <a:srgbClr val="14C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0607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421892" y="1463040"/>
            <a:ext cx="27432" cy="45720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07592" y="2267712"/>
            <a:ext cx="256032" cy="256032"/>
          </a:xfrm>
          <a:prstGeom prst="ellipse">
            <a:avLst/>
          </a:prstGeom>
          <a:solidFill>
            <a:srgbClr val="9C27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566928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197864" y="1060704"/>
            <a:ext cx="475488" cy="18288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7864" y="10607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016252" y="1463040"/>
            <a:ext cx="27432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1952" y="2267712"/>
            <a:ext cx="256032" cy="256032"/>
          </a:xfrm>
          <a:prstGeom prst="ellipse">
            <a:avLst/>
          </a:prstGeom>
          <a:solidFill>
            <a:srgbClr val="1E88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566928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Edge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792224" y="1060704"/>
            <a:ext cx="475488" cy="1828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92224" y="10607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7772" y="1463040"/>
            <a:ext cx="27432" cy="45720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33472" y="2267712"/>
            <a:ext cx="256032" cy="256032"/>
          </a:xfrm>
          <a:prstGeom prst="ellipse">
            <a:avLst/>
          </a:prstGeom>
          <a:solidFill>
            <a:srgbClr val="F0A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566928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523744" y="1060704"/>
            <a:ext cx="475488" cy="18288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10607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479292" y="1463040"/>
            <a:ext cx="27432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64992" y="2267712"/>
            <a:ext cx="256032" cy="256032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566928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Lane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55264" y="1060704"/>
            <a:ext cx="475488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55264" y="10607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393692" y="1463040"/>
            <a:ext cx="27432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79392" y="2267712"/>
            <a:ext cx="256032" cy="256032"/>
          </a:xfrm>
          <a:prstGeom prst="ellipse">
            <a:avLst/>
          </a:prstGeom>
          <a:solidFill>
            <a:srgbClr val="FFB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566928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169664" y="1060704"/>
            <a:ext cx="475488" cy="1828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9664" y="10607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308092" y="1463040"/>
            <a:ext cx="27432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93792" y="2267712"/>
            <a:ext cx="256032" cy="256032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66928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Lane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84064" y="1060704"/>
            <a:ext cx="475488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84064" y="10607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085332" y="1463040"/>
            <a:ext cx="27432" cy="45720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71032" y="2267712"/>
            <a:ext cx="256032" cy="256032"/>
          </a:xfrm>
          <a:prstGeom prst="ellipse">
            <a:avLst/>
          </a:prstGeom>
          <a:solidFill>
            <a:srgbClr val="F0A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566928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861304" y="1060704"/>
            <a:ext cx="475488" cy="18288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61304" y="10607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771132" y="1463040"/>
            <a:ext cx="27432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56832" y="2267712"/>
            <a:ext cx="256032" cy="256032"/>
          </a:xfrm>
          <a:prstGeom prst="ellipse">
            <a:avLst/>
          </a:prstGeom>
          <a:solidFill>
            <a:srgbClr val="1E88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566928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Edge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547104" y="1060704"/>
            <a:ext cx="475488" cy="1828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47104" y="10607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456932" y="1463040"/>
            <a:ext cx="27432" cy="45720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42632" y="2267712"/>
            <a:ext cx="256032" cy="256032"/>
          </a:xfrm>
          <a:prstGeom prst="ellipse">
            <a:avLst/>
          </a:prstGeom>
          <a:solidFill>
            <a:srgbClr val="9C27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78040" y="566928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232904" y="1060704"/>
            <a:ext cx="475488" cy="18288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32904" y="10607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097012" y="1463040"/>
            <a:ext cx="27432" cy="457200"/>
          </a:xfrm>
          <a:prstGeom prst="rect">
            <a:avLst/>
          </a:prstGeom>
          <a:solidFill>
            <a:srgbClr val="14C864"/>
          </a:solidFill>
          <a:ln w="12700">
            <a:solidFill>
              <a:srgbClr val="14C86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82712" y="2267712"/>
            <a:ext cx="256032" cy="256032"/>
          </a:xfrm>
          <a:prstGeom prst="ellipse">
            <a:avLst/>
          </a:prstGeom>
          <a:solidFill>
            <a:srgbClr val="14C86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18120" y="566928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872984" y="1060704"/>
            <a:ext cx="475488" cy="182880"/>
          </a:xfrm>
          <a:prstGeom prst="rect">
            <a:avLst/>
          </a:prstGeom>
          <a:solidFill>
            <a:srgbClr val="14C864"/>
          </a:solidFill>
          <a:ln w="12700">
            <a:solidFill>
              <a:srgbClr val="14C86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72984" y="10607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57200" y="3035808"/>
            <a:ext cx="82296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3108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← ← ← ← ← ← ← ← ← ← 2.2 m interval between bundles → → → → → → → → → → →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84048" y="347472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84048" y="3474720"/>
            <a:ext cx="199339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9768" y="360273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67" name="Text 65"/>
          <p:cNvSpPr/>
          <p:nvPr/>
        </p:nvSpPr>
        <p:spPr>
          <a:xfrm>
            <a:off x="429768" y="400507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max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29768" y="415137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bundle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596896" y="347472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596896" y="3474720"/>
            <a:ext cx="199339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642616" y="360273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72" name="Text 70"/>
          <p:cNvSpPr/>
          <p:nvPr/>
        </p:nvSpPr>
        <p:spPr>
          <a:xfrm>
            <a:off x="2642616" y="400507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 demo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642616" y="415137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(configurable)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809744" y="347472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809744" y="3474720"/>
            <a:ext cx="199339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55464" y="360273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</a:t>
            </a:r>
            <a:endParaRPr lang="en-US" sz="2800" dirty="0"/>
          </a:p>
        </p:txBody>
      </p:sp>
      <p:sp>
        <p:nvSpPr>
          <p:cNvPr id="77" name="Text 75"/>
          <p:cNvSpPr/>
          <p:nvPr/>
        </p:nvSpPr>
        <p:spPr>
          <a:xfrm>
            <a:off x="4855464" y="400507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bundles/km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855464" y="415137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2.2 m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022592" y="347472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7022592" y="3474720"/>
            <a:ext cx="199339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68312" y="360273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µs</a:t>
            </a:r>
            <a:endParaRPr lang="en-US" sz="2800" dirty="0"/>
          </a:p>
        </p:txBody>
      </p:sp>
      <p:sp>
        <p:nvSpPr>
          <p:cNvPr id="82" name="Text 80"/>
          <p:cNvSpPr/>
          <p:nvPr/>
        </p:nvSpPr>
        <p:spPr>
          <a:xfrm>
            <a:off x="7068312" y="400507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synchronised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068312" y="415137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jitter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Compliance — Standards Applied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evaluated against correct IRC clause for that asset and condition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160520" cy="3886200"/>
          </a:xfrm>
          <a:prstGeom prst="rect">
            <a:avLst/>
          </a:prstGeom>
          <a:solidFill>
            <a:srgbClr val="E3F0FB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14400"/>
            <a:ext cx="4160520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67:2012  —  Traffic Signs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353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3533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97480" y="13533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ref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01568" y="135331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645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III  (Diamond Grade)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1645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1645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01568" y="16459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α=0.2° β=+5°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" y="1993392"/>
            <a:ext cx="4069080" cy="347472"/>
          </a:xfrm>
          <a:prstGeom prst="rect">
            <a:avLst/>
          </a:prstGeom>
          <a:solidFill>
            <a:srgbClr val="E3F0FB"/>
          </a:solidFill>
          <a:ln w="6350">
            <a:solidFill>
              <a:srgbClr val="BDD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02996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 (High Intensity)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20299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20299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01568" y="202996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α=0.2° β=+5°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2608" y="2377440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D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41401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 (Engineering Grade)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24140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24140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01568" y="241401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α=0.2° β=+5°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277977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/ lux / m²  ·  IRC 67:2012 §6.3 Table 2  ·  White light measurement (6500 K D65)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92608" y="3090672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136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/ Overhead Signs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" y="33832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Type III DG criteria · Min 50 cd/lux/m² per panel · MoRTH RSQM specification · Two-angle capture: ZED 2i + Fisheye cross-validated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2608" y="3803904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8496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Measurement (Signs)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" y="4096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67:2012 mandates dry-condition measurement. Wet reference values (70% of dry) shown for cross-validation only.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914400"/>
            <a:ext cx="4224528" cy="3886200"/>
          </a:xfrm>
          <a:prstGeom prst="rect">
            <a:avLst/>
          </a:prstGeom>
          <a:solidFill>
            <a:srgbClr val="F0F6FF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914400"/>
            <a:ext cx="4224528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914400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35:2015  —  Markings, Studs, Delineators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36592" y="135331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82512" y="135331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95160" y="135331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62672" y="135331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0016" y="1609344"/>
            <a:ext cx="415137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D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164592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Marking — New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82512" y="164592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95160" y="164592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62672" y="164592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0016" y="1993392"/>
            <a:ext cx="4151376" cy="347472"/>
          </a:xfrm>
          <a:prstGeom prst="rect">
            <a:avLst/>
          </a:prstGeom>
          <a:solidFill>
            <a:srgbClr val="F0F6FF"/>
          </a:solidFill>
          <a:ln w="6350">
            <a:solidFill>
              <a:srgbClr val="BDD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202996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Marking — In-Service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82512" y="202996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95160" y="202996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662672" y="202996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00016" y="2377440"/>
            <a:ext cx="415137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D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6592" y="2414016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Marking — New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82512" y="241401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95160" y="241401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662672" y="2414016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00016" y="2761488"/>
            <a:ext cx="4151376" cy="347472"/>
          </a:xfrm>
          <a:prstGeom prst="rect">
            <a:avLst/>
          </a:prstGeom>
          <a:solidFill>
            <a:srgbClr val="F0F6FF"/>
          </a:solidFill>
          <a:ln w="6350">
            <a:solidFill>
              <a:srgbClr val="BDD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27980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Marking — In-Service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82512" y="279806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95160" y="279806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662672" y="279806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00016" y="3145536"/>
            <a:ext cx="4151376" cy="347472"/>
          </a:xfrm>
          <a:prstGeom prst="rect">
            <a:avLst/>
          </a:prstGeom>
          <a:solidFill>
            <a:srgbClr val="FFF8E1"/>
          </a:solidFill>
          <a:ln w="6350">
            <a:solidFill>
              <a:srgbClr val="BDD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36592" y="318211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Stud / RPM Cat-B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82512" y="31821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995160" y="31821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662672" y="3182112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Cat-B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700016" y="3529584"/>
            <a:ext cx="4151376" cy="347472"/>
          </a:xfrm>
          <a:prstGeom prst="rect">
            <a:avLst/>
          </a:prstGeom>
          <a:solidFill>
            <a:srgbClr val="F0F6FF"/>
          </a:solidFill>
          <a:ln w="6350">
            <a:solidFill>
              <a:srgbClr val="BDD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36592" y="35661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Delineator / PRRP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382512" y="356616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995160" y="356616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662672" y="356616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35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736592" y="391363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/ lx / m²  ·  IRC 35:2015 §8 Table 1  ·  α=1.24° β=2.29° (R2 geometry)  ·  Studs: same threshold wet/dry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700016" y="4206240"/>
            <a:ext cx="415137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73168" y="4242816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RASTRA automatically applies the correct IRC threshold for each channel based on asset type and surface condition (dry/wet). All pass/fail results are tagged with the specific IRC clause reference.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Survey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equipment mounting to full NHAI-ready inspection report in one pass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2267712"/>
            <a:ext cx="256032" cy="914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21762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914400"/>
            <a:ext cx="1481328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BD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14400"/>
            <a:ext cx="1481328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024128"/>
            <a:ext cx="475488" cy="47548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" y="15727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&amp; Connect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1965960"/>
            <a:ext cx="475488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066544"/>
            <a:ext cx="133502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on front hitch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on roof rack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link to RASTRA app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activated · Road loaded from OSM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0" y="2267712"/>
            <a:ext cx="256032" cy="914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1762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93392" y="914400"/>
            <a:ext cx="1481328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BD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93392" y="914400"/>
            <a:ext cx="1481328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96312" y="1024128"/>
            <a:ext cx="475488" cy="47548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96312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057400" y="15727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Conditions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96312" y="1965960"/>
            <a:ext cx="475488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66544" y="2066544"/>
            <a:ext cx="133502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Surface: Dry / Wet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Day / Night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&amp; Weather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channels configured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12080" y="2267712"/>
            <a:ext cx="256032" cy="914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1762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730752" y="914400"/>
            <a:ext cx="1481328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BD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30752" y="914400"/>
            <a:ext cx="1481328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33672" y="1024128"/>
            <a:ext cx="475488" cy="47548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94760" y="15727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Scan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33672" y="1965960"/>
            <a:ext cx="475488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03904" y="2066544"/>
            <a:ext cx="133502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at highway speed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2.2 m = full bundle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channels captured simultaneously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updates live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49440" y="2267712"/>
            <a:ext cx="256032" cy="914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21762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68112" y="914400"/>
            <a:ext cx="1481328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BD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68112" y="914400"/>
            <a:ext cx="1481328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71032" y="1024128"/>
            <a:ext cx="475488" cy="47548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71032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532120" y="15727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71032" y="1965960"/>
            <a:ext cx="475488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41264" y="2066544"/>
            <a:ext cx="133502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shows worst RL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bar: ✓ / ✗ per channel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green/red polyline on road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 zones flagged instantly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05472" y="914400"/>
            <a:ext cx="1481328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BD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05472" y="914400"/>
            <a:ext cx="1481328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08392" y="1024128"/>
            <a:ext cx="475488" cy="475488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08392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269480" y="15727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708392" y="1965960"/>
            <a:ext cx="475488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78624" y="2066544"/>
            <a:ext cx="133502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PDF: summary + all readings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CSV: GPS + IRC + conditions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GIS-ready coordinates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per IRC clause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56032" y="4526280"/>
            <a:ext cx="8631936" cy="347472"/>
          </a:xfrm>
          <a:prstGeom prst="rect">
            <a:avLst/>
          </a:prstGeom>
          <a:solidFill>
            <a:srgbClr val="E3F0FB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survey speed: 60–80 km/h  ·  Output density: 454 bundles/km  ·  Zero traffic disruption  ·  One vehicle  ·  Two operators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RASTRA Dashboard — Application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inspection interface running in Chrome browser on survey vehicle laptop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8631936" cy="3456432"/>
          </a:xfrm>
          <a:prstGeom prst="rect">
            <a:avLst/>
          </a:prstGeom>
          <a:solidFill>
            <a:srgbClr val="E3F0FB"/>
          </a:solidFill>
          <a:ln w="19050">
            <a:solidFill>
              <a:srgbClr val="BDD8F0"/>
            </a:solidFill>
            <a:prstDash val="dash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14400"/>
            <a:ext cx="8631936" cy="292608"/>
          </a:xfrm>
          <a:prstGeom prst="rect">
            <a:avLst/>
          </a:prstGeom>
          <a:solidFill>
            <a:srgbClr val="BDD8F0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960120"/>
            <a:ext cx="8485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RASTRA Application Dashboard — Full Screen Screenshot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441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RASTRA Application Dashboard — Full Screen Screenshot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7157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· Chart · Log · Bundle Bar · Gauge · IRC Compliance Panel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40233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Image Here 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462272"/>
            <a:ext cx="2834640" cy="256032"/>
          </a:xfrm>
          <a:prstGeom prst="rect">
            <a:avLst/>
          </a:prstGeom>
          <a:solidFill>
            <a:srgbClr val="E3F0FB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4805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Satellite + OSM Road Map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4462272"/>
            <a:ext cx="2834640" cy="256032"/>
          </a:xfrm>
          <a:prstGeom prst="rect">
            <a:avLst/>
          </a:prstGeom>
          <a:solidFill>
            <a:srgbClr val="E3F0FB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44805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2.2 m Bundle System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4462272"/>
            <a:ext cx="2834640" cy="256032"/>
          </a:xfrm>
          <a:prstGeom prst="rect">
            <a:avLst/>
          </a:prstGeom>
          <a:solidFill>
            <a:srgbClr val="E3F0FB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44805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Multi-Channel Live Chart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773168"/>
            <a:ext cx="2834640" cy="256032"/>
          </a:xfrm>
          <a:prstGeom prst="rect">
            <a:avLst/>
          </a:prstGeom>
          <a:solidFill>
            <a:srgbClr val="E3F0FB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7914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IRC Pass/Fail per Channel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4773168"/>
            <a:ext cx="2834640" cy="256032"/>
          </a:xfrm>
          <a:prstGeom prst="rect">
            <a:avLst/>
          </a:prstGeom>
          <a:solidFill>
            <a:srgbClr val="E3F0FB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47914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/ CSV Export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4773168"/>
            <a:ext cx="2834640" cy="256032"/>
          </a:xfrm>
          <a:prstGeom prst="rect">
            <a:avLst/>
          </a:prstGeom>
          <a:solidFill>
            <a:srgbClr val="E3F0FB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47914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Heatmap Overlay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35D9586-CA61-F174-E6CD-10594F45B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14399"/>
            <a:ext cx="8631936" cy="34564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Current Methods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RASTRA vs manual handheld measurement — the complete comparison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8631936" cy="310896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509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9509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Manual Method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49240" y="9509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RASTRA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BDD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6187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26187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on live highway — direct accident 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85232" y="1280160"/>
            <a:ext cx="54864" cy="2560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126187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personnel on road — fully vehicle-mounted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1609344"/>
            <a:ext cx="8631936" cy="365760"/>
          </a:xfrm>
          <a:prstGeom prst="rect">
            <a:avLst/>
          </a:prstGeom>
          <a:solidFill>
            <a:srgbClr val="E3F0FB"/>
          </a:solidFill>
          <a:ln w="5080">
            <a:solidFill>
              <a:srgbClr val="BD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64592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164592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~2–3 km/day manual measurement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85232" y="1664208"/>
            <a:ext cx="54864" cy="2560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1645920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 km/h highway speed — 100× faster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1993392"/>
            <a:ext cx="8631936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BDD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0299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202996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spot-checking only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85232" y="2048256"/>
            <a:ext cx="54864" cy="2560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029968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continuous — every 2.2 m, full cross-section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2377440"/>
            <a:ext cx="8631936" cy="365760"/>
          </a:xfrm>
          <a:prstGeom prst="rect">
            <a:avLst/>
          </a:prstGeom>
          <a:solidFill>
            <a:srgbClr val="E3F0FB"/>
          </a:solidFill>
          <a:ln w="5080">
            <a:solidFill>
              <a:srgbClr val="BDD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41401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2414016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reading per stop (one asset)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85232" y="2432304"/>
            <a:ext cx="54864" cy="2560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6672" y="2414016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11 channels per bundle simultaneously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2761488"/>
            <a:ext cx="8631936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BDD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79806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279806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measure gantry signs safely at 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85232" y="2816352"/>
            <a:ext cx="54864" cy="2560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2798064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Microsecond flash photometry · ZED 2i + fisheye cross-check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" y="3145536"/>
            <a:ext cx="8631936" cy="365760"/>
          </a:xfrm>
          <a:prstGeom prst="rect">
            <a:avLst/>
          </a:prstGeom>
          <a:solidFill>
            <a:srgbClr val="E3F0FB"/>
          </a:solidFill>
          <a:ln w="5080">
            <a:solidFill>
              <a:srgbClr val="BDD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18211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Conditions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828800" y="318211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night survey required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85232" y="3200400"/>
            <a:ext cx="54864" cy="2560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76672" y="318211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940 nm filter blocks daylight — works 24/7 without mode change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6032" y="3529584"/>
            <a:ext cx="8631936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BDD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5661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828800" y="356616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 sheets — no GPS tagging, no audit trail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85232" y="3584448"/>
            <a:ext cx="54864" cy="2560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3566160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road-tracked · IRC clause tagged · PDF/CSV/GIS export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6032" y="3913632"/>
            <a:ext cx="8631936" cy="365760"/>
          </a:xfrm>
          <a:prstGeom prst="rect">
            <a:avLst/>
          </a:prstGeom>
          <a:solidFill>
            <a:srgbClr val="E3F0FB"/>
          </a:solidFill>
          <a:ln w="5080">
            <a:solidFill>
              <a:srgbClr val="BDD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95020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Condition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828800" y="395020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measurement impractical — separate visit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85232" y="3968496"/>
            <a:ext cx="54864" cy="2560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76672" y="3950208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selector — IRC 35 wet thresholds applied in real time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-1" y="4434840"/>
            <a:ext cx="9144001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292608"/>
            <a:ext cx="1188720" cy="347472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2926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786384"/>
            <a:ext cx="5669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84048" y="2578608"/>
            <a:ext cx="2011680" cy="4572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706624"/>
            <a:ext cx="1783080" cy="1170432"/>
          </a:xfrm>
          <a:prstGeom prst="rect">
            <a:avLst/>
          </a:prstGeom>
          <a:solidFill>
            <a:srgbClr val="0A2347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7432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4048" y="32186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manual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 km/h vs 2 km/day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04288" y="2706624"/>
            <a:ext cx="1783080" cy="1170432"/>
          </a:xfrm>
          <a:prstGeom prst="rect">
            <a:avLst/>
          </a:prstGeom>
          <a:solidFill>
            <a:srgbClr val="0A2347"/>
          </a:solidFill>
          <a:ln w="12700">
            <a:solidFill>
              <a:srgbClr val="14C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27432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304288" y="32186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on road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04288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traffic exposure risk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24528" y="2706624"/>
            <a:ext cx="1783080" cy="1170432"/>
          </a:xfrm>
          <a:prstGeom prst="rect">
            <a:avLst/>
          </a:prstGeom>
          <a:solidFill>
            <a:srgbClr val="0A234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27432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224528" y="32186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coverage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24528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2.2 m, full cross-section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400507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67:2012 · IRC 35:2015 Certified Thresholds · Unit 1 + Unit 2 + RASTRA Software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048" y="4809744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NHAI 6th Innovation Hackathon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2175</Words>
  <Application>Microsoft Office PowerPoint</Application>
  <PresentationFormat>On-screen Show (16:9)</PresentationFormat>
  <Paragraphs>439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RASTRA — NHAI 6th Innovation Hackathon</dc:title>
  <dc:subject>PptxGenJS Presentation</dc:subject>
  <dc:creator>RASTRA Team</dc:creator>
  <cp:lastModifiedBy>Sanidhya Somawar</cp:lastModifiedBy>
  <cp:revision>5</cp:revision>
  <cp:lastPrinted>2026-04-23T10:11:03Z</cp:lastPrinted>
  <dcterms:created xsi:type="dcterms:W3CDTF">2026-04-23T00:17:16Z</dcterms:created>
  <dcterms:modified xsi:type="dcterms:W3CDTF">2026-04-23T10:11:14Z</dcterms:modified>
</cp:coreProperties>
</file>